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2" autoAdjust="0"/>
    <p:restoredTop sz="94610"/>
  </p:normalViewPr>
  <p:slideViewPr>
    <p:cSldViewPr snapToGrid="0" snapToObjects="1">
      <p:cViewPr>
        <p:scale>
          <a:sx n="120" d="100"/>
          <a:sy n="120" d="100"/>
        </p:scale>
        <p:origin x="18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8225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2"/>
          </a:solidFill>
          <a:ln w="12700">
            <a:solidFill>
              <a:srgbClr val="F5F7F2"/>
            </a:solidFill>
            <a:prstDash val="solid"/>
          </a:ln>
        </p:spPr>
      </p:sp>
      <p:pic>
        <p:nvPicPr>
          <p:cNvPr id="3" name="Image 0" descr="/mnt/data/corn_phone.jpg"/>
          <p:cNvPicPr>
            <a:picLocks noChangeAspect="1"/>
          </p:cNvPicPr>
          <p:nvPr/>
        </p:nvPicPr>
        <p:blipFill>
          <a:blip r:embed="rId3"/>
          <a:srcRect l="27200" r="27200"/>
          <a:stretch/>
        </p:blipFill>
        <p:spPr>
          <a:xfrm>
            <a:off x="6629400" y="0"/>
            <a:ext cx="555955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29400" y="0"/>
            <a:ext cx="5559552" cy="6858000"/>
          </a:xfrm>
          <a:prstGeom prst="rect">
            <a:avLst/>
          </a:prstGeom>
          <a:solidFill>
            <a:srgbClr val="1F6B3A">
              <a:alpha val="60000"/>
            </a:srgbClr>
          </a:solidFill>
          <a:ln w="12700">
            <a:solidFill>
              <a:srgbClr val="1F6B3A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6812280" cy="6858000"/>
          </a:xfrm>
          <a:prstGeom prst="rect">
            <a:avLst/>
          </a:prstGeom>
          <a:solidFill>
            <a:srgbClr val="F5F7F2"/>
          </a:solidFill>
          <a:ln w="12700">
            <a:solidFill>
              <a:srgbClr val="F5F7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8368" y="749808"/>
            <a:ext cx="2468880" cy="329184"/>
          </a:xfrm>
          <a:prstGeom prst="roundRect">
            <a:avLst>
              <a:gd name="adj" fmla="val 22222"/>
            </a:avLst>
          </a:prstGeom>
          <a:solidFill>
            <a:srgbClr val="EAF2E6"/>
          </a:solidFill>
          <a:ln w="12700">
            <a:solidFill>
              <a:srgbClr val="EAF2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836676"/>
            <a:ext cx="2322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900" b="1" dirty="0">
                <a:solidFill>
                  <a:srgbClr val="1F6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棒中棒</a:t>
            </a:r>
            <a:r>
              <a:rPr lang="en-US" altLang="zh-CN" sz="900" b="1" dirty="0">
                <a:solidFill>
                  <a:srgbClr val="1F6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889</a:t>
            </a:r>
            <a:r>
              <a:rPr lang="en-US" sz="900" b="1" dirty="0">
                <a:solidFill>
                  <a:srgbClr val="1F6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数字化推广闭环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" y="141732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玉米重点品种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数字示范展示及营销管理平台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3310128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把“田间真实表现”转化为“</a:t>
            </a:r>
            <a:r>
              <a:rPr lang="en-US" sz="1600" b="1" dirty="0" err="1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可展示、可传播、可跟进</a:t>
            </a:r>
            <a:r>
              <a:rPr lang="en-US" sz="1600" dirty="0" err="1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”的品种推广工具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58368" y="4224528"/>
            <a:ext cx="2834640" cy="0"/>
          </a:xfrm>
          <a:prstGeom prst="line">
            <a:avLst/>
          </a:prstGeom>
          <a:noFill/>
          <a:ln w="38100">
            <a:solidFill>
              <a:srgbClr val="E4A11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45720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6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整体方案汇报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" y="491947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现有问题｜实现理念｜功能模块｜后续完善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4A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现状诊断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一、当前示范管理与品种营销的主要问题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3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重点品种数字示范展示及营销管理平台  |  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“示范”和“营销”没有形成闭环：有田间表现，但没有持续转化为经销商和农户的决策依据。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A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85623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示范点有数量，缺少</a:t>
            </a:r>
            <a:r>
              <a:rPr lang="zh-CN" altLang="en-US" sz="13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标准化数据收集和</a:t>
            </a:r>
            <a:r>
              <a:rPr lang="en-US" sz="1350" b="1" dirty="0" err="1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</a:t>
            </a:r>
            <a:r>
              <a:rPr lang="zh-CN" altLang="en-US" sz="13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88720" y="2167128"/>
            <a:ext cx="4617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点位多但重点不突出，核心展示点、区域验证点、客户试种点没有分层管理。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72200" y="187452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A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185623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过程采集不连续</a:t>
            </a:r>
            <a:r>
              <a:rPr lang="en-US" sz="13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zh-CN" altLang="en-US" sz="13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随意性太大，</a:t>
            </a:r>
            <a:r>
              <a:rPr lang="en-US" sz="1350" b="1" dirty="0" err="1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证据链不足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83680" y="2167128"/>
            <a:ext cx="4617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常等到成熟期才拍照片，播种、苗期、花期、灌浆、收获过程缺少连续记录。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324612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A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22783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宣传内容零散，微信/抖音难复用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88720" y="3538728"/>
            <a:ext cx="4526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图片、视频、文案散落在个人手机中，缺少统一模板、统一口径和一键传播素材。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72200" y="324612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A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322783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客户兴趣难沉淀，销售跟进不闭环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83680" y="3538728"/>
            <a:ext cx="4617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经销商或农户看完内容后，咨询、看田、试种申请往往停留在个人微信中。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461772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A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88720" y="459943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推广效果不可量化，难判断投入价值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88720" y="4910328"/>
            <a:ext cx="4526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无法清楚知道哪个示范点、哪个渠道、哪个销售或经销商真正带来线索。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72200" y="461772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A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0" y="459943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多区域、多人员协同依赖人工推动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83680" y="4910328"/>
            <a:ext cx="4617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采集、审核、发布、转发、跟进缺少平台化流程，管理成本高、响应慢。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4A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平台定位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二、项目定位：从品种网站升级为营销闭环平台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3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重点品种数字示范展示及营销管理平台  |  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40080" y="1170432"/>
            <a:ext cx="4709160" cy="4526280"/>
          </a:xfrm>
          <a:prstGeom prst="roundRect">
            <a:avLst>
              <a:gd name="adj" fmla="val 3030"/>
            </a:avLst>
          </a:prstGeom>
          <a:solidFill>
            <a:srgbClr val="EAF2E6"/>
          </a:solidFill>
          <a:ln w="12700">
            <a:solidFill>
              <a:srgbClr val="D8E5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00200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不是简单做一个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“品种介绍网站”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96112" y="27889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而是建设一个从田间示范、过程采集、内容展示、营销素材生成到微信/抖音传播的数字化平台。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4343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6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46817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把田间真实表现，变成可展示、可传播、可跟进的推广工具。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287768" y="1636776"/>
            <a:ext cx="429768" cy="0"/>
          </a:xfrm>
          <a:prstGeom prst="line">
            <a:avLst/>
          </a:prstGeom>
          <a:noFill/>
          <a:ln w="17780">
            <a:solidFill>
              <a:srgbClr val="E4A11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025128" y="1636776"/>
            <a:ext cx="429768" cy="0"/>
          </a:xfrm>
          <a:prstGeom prst="line">
            <a:avLst/>
          </a:prstGeom>
          <a:noFill/>
          <a:ln w="17780">
            <a:solidFill>
              <a:srgbClr val="E4A11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 flipH="1">
            <a:off x="6638544" y="1947671"/>
            <a:ext cx="3474720" cy="780819"/>
          </a:xfrm>
          <a:prstGeom prst="line">
            <a:avLst/>
          </a:prstGeom>
          <a:noFill/>
          <a:ln w="17780">
            <a:solidFill>
              <a:srgbClr val="E4A11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7297360" y="3043373"/>
            <a:ext cx="465548" cy="0"/>
          </a:xfrm>
          <a:prstGeom prst="line">
            <a:avLst/>
          </a:prstGeom>
          <a:noFill/>
          <a:ln w="17780">
            <a:solidFill>
              <a:srgbClr val="E4A11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7" name="Shape 15"/>
          <p:cNvSpPr/>
          <p:nvPr/>
        </p:nvSpPr>
        <p:spPr>
          <a:xfrm>
            <a:off x="10225376" y="3354269"/>
            <a:ext cx="0" cy="938883"/>
          </a:xfrm>
          <a:prstGeom prst="line">
            <a:avLst/>
          </a:prstGeom>
          <a:noFill/>
          <a:ln w="17780">
            <a:solidFill>
              <a:srgbClr val="E4A11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989320" y="1325880"/>
            <a:ext cx="1298448" cy="621792"/>
          </a:xfrm>
          <a:prstGeom prst="roundRect">
            <a:avLst>
              <a:gd name="adj" fmla="val 14706"/>
            </a:avLst>
          </a:prstGeom>
          <a:solidFill>
            <a:srgbClr val="EAF2E6"/>
          </a:solidFill>
          <a:ln w="12700">
            <a:solidFill>
              <a:srgbClr val="C8D9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62472" y="1499616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示范点建设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26680" y="1325880"/>
            <a:ext cx="1298448" cy="621792"/>
          </a:xfrm>
          <a:prstGeom prst="roundRect">
            <a:avLst>
              <a:gd name="adj" fmla="val 14706"/>
            </a:avLst>
          </a:prstGeom>
          <a:solidFill>
            <a:srgbClr val="EAF2E6"/>
          </a:solidFill>
          <a:ln w="12700">
            <a:solidFill>
              <a:srgbClr val="C8D9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99832" y="1499616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过程采集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464040" y="1325880"/>
            <a:ext cx="1298448" cy="621792"/>
          </a:xfrm>
          <a:prstGeom prst="roundRect">
            <a:avLst>
              <a:gd name="adj" fmla="val 14706"/>
            </a:avLst>
          </a:prstGeom>
          <a:solidFill>
            <a:srgbClr val="EAF2E6"/>
          </a:solidFill>
          <a:ln w="12700">
            <a:solidFill>
              <a:srgbClr val="C8D9C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37192" y="1499616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审核发布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89320" y="2743200"/>
            <a:ext cx="1298448" cy="621792"/>
          </a:xfrm>
          <a:prstGeom prst="roundRect">
            <a:avLst>
              <a:gd name="adj" fmla="val 14706"/>
            </a:avLst>
          </a:prstGeom>
          <a:solidFill>
            <a:srgbClr val="EAF2E6"/>
          </a:solidFill>
          <a:ln w="12700">
            <a:solidFill>
              <a:srgbClr val="C8D9C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62472" y="2916936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素材生成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49043" y="2732477"/>
            <a:ext cx="1298448" cy="621792"/>
          </a:xfrm>
          <a:prstGeom prst="roundRect">
            <a:avLst>
              <a:gd name="adj" fmla="val 14706"/>
            </a:avLst>
          </a:prstGeom>
          <a:solidFill>
            <a:srgbClr val="EAF2E6"/>
          </a:solidFill>
          <a:ln w="12700">
            <a:solidFill>
              <a:srgbClr val="C8D9C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58635" y="2959866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多渠道传播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537192" y="2743200"/>
            <a:ext cx="1225296" cy="621792"/>
          </a:xfrm>
          <a:prstGeom prst="roundRect">
            <a:avLst>
              <a:gd name="adj" fmla="val 14706"/>
            </a:avLst>
          </a:prstGeom>
          <a:solidFill>
            <a:srgbClr val="EAF2E6"/>
          </a:solidFill>
          <a:ln w="12700">
            <a:solidFill>
              <a:srgbClr val="C8D9C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37192" y="2916936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客户反馈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395460" y="4312390"/>
            <a:ext cx="1508760" cy="621792"/>
          </a:xfrm>
          <a:prstGeom prst="roundRect">
            <a:avLst>
              <a:gd name="adj" fmla="val 14706"/>
            </a:avLst>
          </a:prstGeom>
          <a:solidFill>
            <a:srgbClr val="FFF4D7"/>
          </a:solidFill>
          <a:ln w="12700">
            <a:solidFill>
              <a:srgbClr val="C8D9C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41764" y="4553714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线索沉淀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效果分析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035040" y="5715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6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形成“展示—传播—反馈—复盘”的持续运营循环</a:t>
            </a:r>
            <a:endParaRPr lang="en-US" sz="1500" dirty="0"/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323FE27B-EEB6-5602-BE02-85E3141F2396}"/>
              </a:ext>
            </a:extLst>
          </p:cNvPr>
          <p:cNvSpPr/>
          <p:nvPr/>
        </p:nvSpPr>
        <p:spPr>
          <a:xfrm flipV="1">
            <a:off x="9071644" y="3058624"/>
            <a:ext cx="465548" cy="0"/>
          </a:xfrm>
          <a:prstGeom prst="line">
            <a:avLst/>
          </a:prstGeom>
          <a:noFill/>
          <a:ln w="17780">
            <a:solidFill>
              <a:srgbClr val="E4A11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4A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设计理念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三、实现理念：真实、移动、闭环、易维护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3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重点品种数字示范展示及营销管理平台  |  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31520" y="1298448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98448"/>
            <a:ext cx="73152" cy="1005840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463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以真实示范为核心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932688" y="18013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围绕不同区域、不同阶段、不同地块的真实表现，持续沉淀数据、图片和视频，让客户看到真实田间环境下的表现。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6309360" y="1298448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298448"/>
            <a:ext cx="73152" cy="1005840"/>
          </a:xfrm>
          <a:prstGeom prst="rect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1463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以手机端展示为优先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510528" y="18013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客户、销售、经销商、示范户大多数场景都在手机上使用：第一屏抓注意力，图片视频优先，按钮清晰。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731520" y="283464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834640"/>
            <a:ext cx="73152" cy="1005840"/>
          </a:xfrm>
          <a:prstGeom prst="rect">
            <a:avLst/>
          </a:prstGeom>
          <a:solidFill>
            <a:srgbClr val="2F6F8F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29992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以营销闭环为目标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932688" y="3337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示范表现发布后自动生成海报、文案、视频脚本、二维码，让内容能传播出去，并把客户反馈带回来。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6309360" y="283464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2834640"/>
            <a:ext cx="73152" cy="1005840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299923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以简单易维护为原则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6510528" y="3337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定位为企业自用平台，优先满足业务：后台易管理，数据可控，Windows 开发测试方便，后续逐步增强。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1097280" y="4754880"/>
            <a:ext cx="10012680" cy="713232"/>
          </a:xfrm>
          <a:prstGeom prst="roundRect">
            <a:avLst>
              <a:gd name="adj" fmla="val 15385"/>
            </a:avLst>
          </a:prstGeom>
          <a:solidFill>
            <a:srgbClr val="16301F"/>
          </a:solidFill>
          <a:ln w="12700">
            <a:solidFill>
              <a:srgbClr val="1630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5001768"/>
            <a:ext cx="937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平台建设目标：先把“单一重点品种”的示范内容、营销素材、销售转发和客户反馈闭环打磨扎实，再逐步扩展。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4A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业务闭环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四、总体流程：从田间数据到营销转化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3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重点品种数字示范展示及营销管理平台  |  5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865376" y="1920240"/>
            <a:ext cx="429768" cy="0"/>
          </a:xfrm>
          <a:prstGeom prst="line">
            <a:avLst/>
          </a:prstGeom>
          <a:noFill/>
          <a:ln w="17780">
            <a:solidFill>
              <a:srgbClr val="E4A11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557016" y="1920240"/>
            <a:ext cx="429768" cy="0"/>
          </a:xfrm>
          <a:prstGeom prst="line">
            <a:avLst/>
          </a:prstGeom>
          <a:noFill/>
          <a:ln w="17780">
            <a:solidFill>
              <a:srgbClr val="E4A11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248656" y="1920240"/>
            <a:ext cx="429768" cy="0"/>
          </a:xfrm>
          <a:prstGeom prst="line">
            <a:avLst/>
          </a:prstGeom>
          <a:noFill/>
          <a:ln w="17780">
            <a:solidFill>
              <a:srgbClr val="E4A11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940296" y="1920240"/>
            <a:ext cx="429768" cy="0"/>
          </a:xfrm>
          <a:prstGeom prst="line">
            <a:avLst/>
          </a:prstGeom>
          <a:noFill/>
          <a:ln w="17780">
            <a:solidFill>
              <a:srgbClr val="E4A11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631936" y="1920240"/>
            <a:ext cx="429768" cy="0"/>
          </a:xfrm>
          <a:prstGeom prst="line">
            <a:avLst/>
          </a:prstGeom>
          <a:noFill/>
          <a:ln w="17780">
            <a:solidFill>
              <a:srgbClr val="E4A11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323576" y="1920240"/>
            <a:ext cx="45720" cy="0"/>
          </a:xfrm>
          <a:prstGeom prst="line">
            <a:avLst/>
          </a:prstGeom>
          <a:noFill/>
          <a:ln w="17780">
            <a:solidFill>
              <a:srgbClr val="E4A11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" y="1600200"/>
            <a:ext cx="1234440" cy="621792"/>
          </a:xfrm>
          <a:prstGeom prst="roundRect">
            <a:avLst>
              <a:gd name="adj" fmla="val 14706"/>
            </a:avLst>
          </a:prstGeom>
          <a:solidFill>
            <a:srgbClr val="EAF2E6"/>
          </a:solidFill>
          <a:ln w="12700">
            <a:solidFill>
              <a:srgbClr val="C8D9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773936"/>
            <a:ext cx="1088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示范点建设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331720" y="1600200"/>
            <a:ext cx="1234440" cy="621792"/>
          </a:xfrm>
          <a:prstGeom prst="roundRect">
            <a:avLst>
              <a:gd name="adj" fmla="val 14706"/>
            </a:avLst>
          </a:prstGeom>
          <a:solidFill>
            <a:srgbClr val="FFF4D7"/>
          </a:solidFill>
          <a:ln w="12700">
            <a:solidFill>
              <a:srgbClr val="C8D9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04872" y="1773936"/>
            <a:ext cx="1088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田间过程采集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23360" y="1600200"/>
            <a:ext cx="1234440" cy="621792"/>
          </a:xfrm>
          <a:prstGeom prst="roundRect">
            <a:avLst>
              <a:gd name="adj" fmla="val 14706"/>
            </a:avLst>
          </a:prstGeom>
          <a:solidFill>
            <a:srgbClr val="EAF2E6"/>
          </a:solidFill>
          <a:ln w="12700">
            <a:solidFill>
              <a:srgbClr val="C8D9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96512" y="1773936"/>
            <a:ext cx="1088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阶段审核发布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15000" y="1600200"/>
            <a:ext cx="1234440" cy="621792"/>
          </a:xfrm>
          <a:prstGeom prst="roundRect">
            <a:avLst>
              <a:gd name="adj" fmla="val 14706"/>
            </a:avLst>
          </a:prstGeom>
          <a:solidFill>
            <a:srgbClr val="FFF4D7"/>
          </a:solidFill>
          <a:ln w="12700">
            <a:solidFill>
              <a:srgbClr val="C8D9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88152" y="1773936"/>
            <a:ext cx="1088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自动生成素材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06640" y="1600200"/>
            <a:ext cx="1234440" cy="621792"/>
          </a:xfrm>
          <a:prstGeom prst="roundRect">
            <a:avLst>
              <a:gd name="adj" fmla="val 14706"/>
            </a:avLst>
          </a:prstGeom>
          <a:solidFill>
            <a:srgbClr val="EAF2E6"/>
          </a:solidFill>
          <a:ln w="12700">
            <a:solidFill>
              <a:srgbClr val="C8D9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79792" y="1773936"/>
            <a:ext cx="1088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多渠道传播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98280" y="1600200"/>
            <a:ext cx="1234440" cy="621792"/>
          </a:xfrm>
          <a:prstGeom prst="roundRect">
            <a:avLst>
              <a:gd name="adj" fmla="val 14706"/>
            </a:avLst>
          </a:prstGeom>
          <a:solidFill>
            <a:srgbClr val="FFF4D7"/>
          </a:solidFill>
          <a:ln w="12700">
            <a:solidFill>
              <a:srgbClr val="C8D9C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71432" y="1773936"/>
            <a:ext cx="1088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客户查看反馈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405872" y="1600200"/>
            <a:ext cx="1417320" cy="621792"/>
          </a:xfrm>
          <a:prstGeom prst="roundRect">
            <a:avLst>
              <a:gd name="adj" fmla="val 14706"/>
            </a:avLst>
          </a:prstGeom>
          <a:solidFill>
            <a:srgbClr val="EAF2E6"/>
          </a:solidFill>
          <a:ln w="12700">
            <a:solidFill>
              <a:srgbClr val="C8D9C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79024" y="1773936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线索沉淀分析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" y="2834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输入：田间真实表现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3310128"/>
            <a:ext cx="73152" cy="73152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" y="324612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阶段数据：出苗、拔节、抽雄、灌浆、成熟、收获</a:t>
            </a:r>
            <a:endParaRPr lang="en-US" sz="1240" dirty="0"/>
          </a:p>
        </p:txBody>
      </p:sp>
      <p:sp>
        <p:nvSpPr>
          <p:cNvPr id="29" name="Shape 27"/>
          <p:cNvSpPr/>
          <p:nvPr/>
        </p:nvSpPr>
        <p:spPr>
          <a:xfrm>
            <a:off x="731520" y="3767328"/>
            <a:ext cx="73152" cy="73152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" y="370332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图片视频：全田图、近景图、果穗图、测产视频</a:t>
            </a:r>
            <a:endParaRPr lang="en-US" sz="1240" dirty="0"/>
          </a:p>
        </p:txBody>
      </p:sp>
      <p:sp>
        <p:nvSpPr>
          <p:cNvPr id="31" name="Shape 29"/>
          <p:cNvSpPr/>
          <p:nvPr/>
        </p:nvSpPr>
        <p:spPr>
          <a:xfrm>
            <a:off x="731520" y="4224528"/>
            <a:ext cx="73152" cy="73152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" y="416052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负责人记录：时间、地点、描述、异常情况</a:t>
            </a:r>
            <a:endParaRPr lang="en-US" sz="1240" dirty="0"/>
          </a:p>
        </p:txBody>
      </p:sp>
      <p:sp>
        <p:nvSpPr>
          <p:cNvPr id="33" name="Text 31"/>
          <p:cNvSpPr/>
          <p:nvPr/>
        </p:nvSpPr>
        <p:spPr>
          <a:xfrm>
            <a:off x="4663440" y="2834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加工：内容审核与素材化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92040" y="3310128"/>
            <a:ext cx="73152" cy="73152"/>
          </a:xfrm>
          <a:prstGeom prst="ellipse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38344" y="324612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审核后选择公开展示内容</a:t>
            </a:r>
            <a:endParaRPr lang="en-US" sz="1240" dirty="0"/>
          </a:p>
        </p:txBody>
      </p:sp>
      <p:sp>
        <p:nvSpPr>
          <p:cNvPr id="36" name="Shape 34"/>
          <p:cNvSpPr/>
          <p:nvPr/>
        </p:nvSpPr>
        <p:spPr>
          <a:xfrm>
            <a:off x="4892040" y="3767328"/>
            <a:ext cx="73152" cy="73152"/>
          </a:xfrm>
          <a:prstGeom prst="ellipse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38344" y="370332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生成朋友圈海报、文案、二维码、视频脚本</a:t>
            </a:r>
            <a:endParaRPr lang="en-US" sz="1240" dirty="0"/>
          </a:p>
        </p:txBody>
      </p:sp>
      <p:sp>
        <p:nvSpPr>
          <p:cNvPr id="38" name="Shape 36"/>
          <p:cNvSpPr/>
          <p:nvPr/>
        </p:nvSpPr>
        <p:spPr>
          <a:xfrm>
            <a:off x="4892040" y="4224528"/>
            <a:ext cx="73152" cy="73152"/>
          </a:xfrm>
          <a:prstGeom prst="ellipse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38344" y="416052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按示范点、阶段、区域形成传播包</a:t>
            </a:r>
            <a:endParaRPr lang="en-US" sz="1240" dirty="0"/>
          </a:p>
        </p:txBody>
      </p:sp>
      <p:sp>
        <p:nvSpPr>
          <p:cNvPr id="40" name="Text 38"/>
          <p:cNvSpPr/>
          <p:nvPr/>
        </p:nvSpPr>
        <p:spPr>
          <a:xfrm>
            <a:off x="8321040" y="2834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输出：客户线索与推广复盘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732520" y="3310128"/>
            <a:ext cx="73152" cy="73152"/>
          </a:xfrm>
          <a:prstGeom prst="ellipse">
            <a:avLst/>
          </a:prstGeom>
          <a:solidFill>
            <a:srgbClr val="2F6F8F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78824" y="32461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客户咨询、看田、申请示范、经销合作</a:t>
            </a:r>
            <a:endParaRPr lang="en-US" sz="1240" dirty="0"/>
          </a:p>
        </p:txBody>
      </p:sp>
      <p:sp>
        <p:nvSpPr>
          <p:cNvPr id="43" name="Shape 41"/>
          <p:cNvSpPr/>
          <p:nvPr/>
        </p:nvSpPr>
        <p:spPr>
          <a:xfrm>
            <a:off x="8732520" y="3767328"/>
            <a:ext cx="73152" cy="73152"/>
          </a:xfrm>
          <a:prstGeom prst="ellipse">
            <a:avLst/>
          </a:prstGeom>
          <a:solidFill>
            <a:srgbClr val="2F6F8F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78824" y="37033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记录来源：微信、抖音、二维码、销售转发</a:t>
            </a:r>
            <a:endParaRPr lang="en-US" sz="1240" dirty="0"/>
          </a:p>
        </p:txBody>
      </p:sp>
      <p:sp>
        <p:nvSpPr>
          <p:cNvPr id="45" name="Shape 43"/>
          <p:cNvSpPr/>
          <p:nvPr/>
        </p:nvSpPr>
        <p:spPr>
          <a:xfrm>
            <a:off x="8732520" y="4224528"/>
            <a:ext cx="73152" cy="73152"/>
          </a:xfrm>
          <a:prstGeom prst="ellipse">
            <a:avLst/>
          </a:prstGeom>
          <a:solidFill>
            <a:srgbClr val="2F6F8F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878824" y="41605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分析区域热度、示范点热度、人员效果</a:t>
            </a:r>
            <a:endParaRPr lang="en-US" sz="1240" dirty="0"/>
          </a:p>
        </p:txBody>
      </p:sp>
      <p:sp>
        <p:nvSpPr>
          <p:cNvPr id="47" name="Shape 45"/>
          <p:cNvSpPr/>
          <p:nvPr/>
        </p:nvSpPr>
        <p:spPr>
          <a:xfrm>
            <a:off x="685800" y="5669280"/>
            <a:ext cx="10744200" cy="0"/>
          </a:xfrm>
          <a:prstGeom prst="line">
            <a:avLst/>
          </a:prstGeom>
          <a:noFill/>
          <a:ln w="12700">
            <a:solidFill>
              <a:srgbClr val="DDE7D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97280" y="58978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关键变化：示范不再只是“种出来”，而是持续转化为可传播内容和可跟进线索。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4A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功能总览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五、功能框架：8 个核心模块形成完整闭环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3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重点品种数字示范展示及营销管理平台  |  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1188720"/>
            <a:ext cx="5257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188720"/>
            <a:ext cx="73152" cy="685800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3533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品种展示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886968" y="1691640"/>
            <a:ext cx="49377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32500" lnSpcReduction="20000"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品种名称、定位、卖点、图片视频、适宜区域、联系销售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685800" y="2185416"/>
            <a:ext cx="5257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185416"/>
            <a:ext cx="73152" cy="685800"/>
          </a:xfrm>
          <a:prstGeom prst="rect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3500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示范点展示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886968" y="2688336"/>
            <a:ext cx="49377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32500" lnSpcReduction="20000"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列表、地图、附近优先、详情、阶段表现、视频播放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685800" y="3182112"/>
            <a:ext cx="5257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182112"/>
            <a:ext cx="73152" cy="685800"/>
          </a:xfrm>
          <a:prstGeom prst="rect">
            <a:avLst/>
          </a:prstGeom>
          <a:solidFill>
            <a:srgbClr val="2F6F8F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34670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田间采集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886968" y="3685032"/>
            <a:ext cx="49377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32500" lnSpcReduction="20000"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负责人登录、阶段数据、拍照视频、选择式填写、自动计算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685800" y="4178808"/>
            <a:ext cx="5257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4178808"/>
            <a:ext cx="73152" cy="685800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43434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阶段发布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886968" y="4681728"/>
            <a:ext cx="49377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32500" lnSpcReduction="20000"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审核后发布出苗、拔节、抽雄、灌浆、成熟、收获内容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6263640" y="1188720"/>
            <a:ext cx="5257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1188720"/>
            <a:ext cx="73152" cy="685800"/>
          </a:xfrm>
          <a:prstGeom prst="rect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64808" y="13533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咨询线索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6464808" y="1691640"/>
            <a:ext cx="49377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32500" lnSpcReduction="20000"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姓名电话、区域身份、意向事项、来源与跟进状态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6263640" y="2185416"/>
            <a:ext cx="5257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2185416"/>
            <a:ext cx="73152" cy="685800"/>
          </a:xfrm>
          <a:prstGeom prst="rect">
            <a:avLst/>
          </a:prstGeom>
          <a:solidFill>
            <a:srgbClr val="2F6F8F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64808" y="23500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申请示范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6464808" y="2688336"/>
            <a:ext cx="49377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32500" lnSpcReduction="20000"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用户申请、区域审核、电话确认、开通采集权限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6263640" y="3182112"/>
            <a:ext cx="5257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3182112"/>
            <a:ext cx="73152" cy="685800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64808" y="334670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营销中心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6464808" y="3685032"/>
            <a:ext cx="49377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32500" lnSpcReduction="20000"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海报、文案、脚本、封面、二维码、经销商专属素材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6263640" y="4178808"/>
            <a:ext cx="5257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4178808"/>
            <a:ext cx="73152" cy="685800"/>
          </a:xfrm>
          <a:prstGeom prst="rect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64808" y="43434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多模式发布</a:t>
            </a:r>
            <a:endParaRPr lang="en-US" sz="1320" dirty="0"/>
          </a:p>
        </p:txBody>
      </p:sp>
      <p:sp>
        <p:nvSpPr>
          <p:cNvPr id="37" name="Text 35"/>
          <p:cNvSpPr/>
          <p:nvPr/>
        </p:nvSpPr>
        <p:spPr>
          <a:xfrm>
            <a:off x="6464808" y="4681728"/>
            <a:ext cx="49377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32500" lnSpcReduction="20000"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微信、抖音、二维码、线下物料，先人工发布后续挂载</a:t>
            </a:r>
            <a:endParaRPr lang="en-US" sz="1060" dirty="0"/>
          </a:p>
        </p:txBody>
      </p:sp>
      <p:sp>
        <p:nvSpPr>
          <p:cNvPr id="38" name="Text 36"/>
          <p:cNvSpPr/>
          <p:nvPr/>
        </p:nvSpPr>
        <p:spPr>
          <a:xfrm>
            <a:off x="914400" y="57150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6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功能设计重点：对外展示“轻”，后台管理“清”，移动采集“快”，营销发布“省力”。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4A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移动优先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六、手机端展示：让客户 3 秒内看懂品种价值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3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重点品种数字示范展示及营销管理平台  |  7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68680" y="1005840"/>
            <a:ext cx="2788920" cy="4983480"/>
          </a:xfrm>
          <a:prstGeom prst="roundRect">
            <a:avLst>
              <a:gd name="adj" fmla="val 7213"/>
            </a:avLst>
          </a:prstGeom>
          <a:solidFill>
            <a:srgbClr val="1F2520"/>
          </a:solidFill>
          <a:ln w="12700">
            <a:solidFill>
              <a:srgbClr val="1F25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234440"/>
            <a:ext cx="2478024" cy="4526280"/>
          </a:xfrm>
          <a:prstGeom prst="roundRect">
            <a:avLst>
              <a:gd name="adj" fmla="val 4428"/>
            </a:avLst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pic>
        <p:nvPicPr>
          <p:cNvPr id="8" name="Image 0" descr="/mnt/data/corn_phone.jpg"/>
          <p:cNvPicPr>
            <a:picLocks noChangeAspect="1"/>
          </p:cNvPicPr>
          <p:nvPr/>
        </p:nvPicPr>
        <p:blipFill>
          <a:blip r:embed="rId3"/>
          <a:srcRect l="8801" r="8801"/>
          <a:stretch/>
        </p:blipFill>
        <p:spPr>
          <a:xfrm>
            <a:off x="1024128" y="1234440"/>
            <a:ext cx="2478024" cy="1691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61288" y="31272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棒中棒889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34440" y="352958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黄淮海高产稳产重点品种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225296" y="3959352"/>
            <a:ext cx="658368" cy="329184"/>
          </a:xfrm>
          <a:prstGeom prst="roundRect">
            <a:avLst>
              <a:gd name="adj" fmla="val 22222"/>
            </a:avLst>
          </a:prstGeom>
          <a:solidFill>
            <a:srgbClr val="EAF2E6"/>
          </a:solidFill>
          <a:ln w="12700">
            <a:solidFill>
              <a:srgbClr val="EAF2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98448" y="4046220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6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抗倒伏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938528" y="3959352"/>
            <a:ext cx="658368" cy="329184"/>
          </a:xfrm>
          <a:prstGeom prst="roundRect">
            <a:avLst>
              <a:gd name="adj" fmla="val 22222"/>
            </a:avLst>
          </a:prstGeom>
          <a:solidFill>
            <a:srgbClr val="EAF2E6"/>
          </a:solidFill>
          <a:ln w="12700">
            <a:solidFill>
              <a:srgbClr val="EAF2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0" y="4046220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6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脱水快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651760" y="3959352"/>
            <a:ext cx="713232" cy="329184"/>
          </a:xfrm>
          <a:prstGeom prst="roundRect">
            <a:avLst>
              <a:gd name="adj" fmla="val 22222"/>
            </a:avLst>
          </a:prstGeom>
          <a:solidFill>
            <a:srgbClr val="EAF2E6"/>
          </a:solidFill>
          <a:ln w="12700">
            <a:solidFill>
              <a:srgbClr val="EAF2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24912" y="404622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6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穗部整齐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234440" y="4718304"/>
            <a:ext cx="987552" cy="347472"/>
          </a:xfrm>
          <a:prstGeom prst="roundRect">
            <a:avLst>
              <a:gd name="adj" fmla="val 26316"/>
            </a:avLst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34440" y="4828032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看示范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331720" y="4718304"/>
            <a:ext cx="987552" cy="347472"/>
          </a:xfrm>
          <a:prstGeom prst="roundRect">
            <a:avLst>
              <a:gd name="adj" fmla="val 26316"/>
            </a:avLst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331720" y="4828032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我要咨询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38912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移动端展示原则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4434840" y="1984248"/>
            <a:ext cx="73152" cy="73152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81144" y="192024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第一屏突出品种名称、核心定位和 3–5 个卖点</a:t>
            </a:r>
            <a:endParaRPr lang="en-US" sz="1240" dirty="0"/>
          </a:p>
        </p:txBody>
      </p:sp>
      <p:sp>
        <p:nvSpPr>
          <p:cNvPr id="24" name="Shape 21"/>
          <p:cNvSpPr/>
          <p:nvPr/>
        </p:nvSpPr>
        <p:spPr>
          <a:xfrm>
            <a:off x="4434840" y="2551176"/>
            <a:ext cx="73152" cy="73152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81144" y="248716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图片和视频优先，文字只做必要说明</a:t>
            </a:r>
            <a:endParaRPr lang="en-US" sz="1240" dirty="0"/>
          </a:p>
        </p:txBody>
      </p:sp>
      <p:sp>
        <p:nvSpPr>
          <p:cNvPr id="26" name="Shape 23"/>
          <p:cNvSpPr/>
          <p:nvPr/>
        </p:nvSpPr>
        <p:spPr>
          <a:xfrm>
            <a:off x="4434840" y="3118104"/>
            <a:ext cx="73152" cy="73152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81144" y="305409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底部固定“咨询 / 看田 / 联系销售”入口</a:t>
            </a:r>
            <a:endParaRPr lang="en-US" sz="1240" dirty="0"/>
          </a:p>
        </p:txBody>
      </p:sp>
      <p:sp>
        <p:nvSpPr>
          <p:cNvPr id="28" name="Shape 25"/>
          <p:cNvSpPr/>
          <p:nvPr/>
        </p:nvSpPr>
        <p:spPr>
          <a:xfrm>
            <a:off x="4434840" y="3685032"/>
            <a:ext cx="73152" cy="73152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81144" y="362102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示范点按距离或重点区域优先展示</a:t>
            </a:r>
            <a:endParaRPr lang="en-US" sz="1240" dirty="0"/>
          </a:p>
        </p:txBody>
      </p:sp>
      <p:sp>
        <p:nvSpPr>
          <p:cNvPr id="30" name="Shape 27"/>
          <p:cNvSpPr/>
          <p:nvPr/>
        </p:nvSpPr>
        <p:spPr>
          <a:xfrm>
            <a:off x="4434840" y="4251960"/>
            <a:ext cx="73152" cy="73152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81144" y="418795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每个页面都适合朋友圈、微信群、二维码传播</a:t>
            </a:r>
            <a:endParaRPr lang="en-US" sz="1240" dirty="0"/>
          </a:p>
        </p:txBody>
      </p:sp>
      <p:sp>
        <p:nvSpPr>
          <p:cNvPr id="32" name="Shape 29"/>
          <p:cNvSpPr/>
          <p:nvPr/>
        </p:nvSpPr>
        <p:spPr>
          <a:xfrm>
            <a:off x="4480560" y="5074920"/>
            <a:ext cx="6812280" cy="658368"/>
          </a:xfrm>
          <a:prstGeom prst="roundRect">
            <a:avLst>
              <a:gd name="adj" fmla="val 16667"/>
            </a:avLst>
          </a:prstGeom>
          <a:solidFill>
            <a:srgbClr val="EAF2E6"/>
          </a:solidFill>
          <a:ln w="12700">
            <a:solidFill>
              <a:srgbClr val="EAF2E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54880" y="5321808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6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目标：客户打开后快速产生“这个品种值得看、哪里有示范、如何联系”的行动路径。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4A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过程采集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七、田间采集：让示范表现持续沉淀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3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重点品种数字示范展示及营销管理平台  |  8</a:t>
            </a:r>
            <a:endParaRPr lang="en-US" sz="750" dirty="0"/>
          </a:p>
        </p:txBody>
      </p:sp>
      <p:pic>
        <p:nvPicPr>
          <p:cNvPr id="6" name="Image 0" descr="/mnt/data/corn_field_person.jpg"/>
          <p:cNvPicPr>
            <a:picLocks noChangeAspect="1"/>
          </p:cNvPicPr>
          <p:nvPr/>
        </p:nvPicPr>
        <p:blipFill>
          <a:blip r:embed="rId3"/>
          <a:srcRect l="17857" r="17857"/>
          <a:stretch/>
        </p:blipFill>
        <p:spPr>
          <a:xfrm>
            <a:off x="685800" y="1234440"/>
            <a:ext cx="384048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5166360"/>
            <a:ext cx="3840480" cy="548640"/>
          </a:xfrm>
          <a:prstGeom prst="rect">
            <a:avLst/>
          </a:prstGeom>
          <a:solidFill>
            <a:srgbClr val="1F6B3A">
              <a:alpha val="92000"/>
            </a:srgbClr>
          </a:solidFill>
          <a:ln w="12700">
            <a:solidFill>
              <a:srgbClr val="1F6B3A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539496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手机采集：少填字、多选择、直接拍照上传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983480" y="1207008"/>
            <a:ext cx="274320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48072" y="137160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播种｜播期、密度、面积、墒情</a:t>
            </a:r>
            <a:endParaRPr lang="en-US" sz="1060" dirty="0"/>
          </a:p>
        </p:txBody>
      </p:sp>
      <p:sp>
        <p:nvSpPr>
          <p:cNvPr id="11" name="Shape 8"/>
          <p:cNvSpPr/>
          <p:nvPr/>
        </p:nvSpPr>
        <p:spPr>
          <a:xfrm>
            <a:off x="8046720" y="1207008"/>
            <a:ext cx="274320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11312" y="137160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出苗｜出苗率、苗势、整齐度</a:t>
            </a:r>
            <a:endParaRPr lang="en-US" sz="1060" dirty="0"/>
          </a:p>
        </p:txBody>
      </p:sp>
      <p:sp>
        <p:nvSpPr>
          <p:cNvPr id="13" name="Shape 10"/>
          <p:cNvSpPr/>
          <p:nvPr/>
        </p:nvSpPr>
        <p:spPr>
          <a:xfrm>
            <a:off x="4983480" y="2167128"/>
            <a:ext cx="274320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48072" y="233172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拔节｜长势、株型、叶色</a:t>
            </a:r>
            <a:endParaRPr lang="en-US" sz="1060" dirty="0"/>
          </a:p>
        </p:txBody>
      </p:sp>
      <p:sp>
        <p:nvSpPr>
          <p:cNvPr id="15" name="Shape 12"/>
          <p:cNvSpPr/>
          <p:nvPr/>
        </p:nvSpPr>
        <p:spPr>
          <a:xfrm>
            <a:off x="8046720" y="2167128"/>
            <a:ext cx="274320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11312" y="233172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抽雄吐丝｜花期协调、吐丝整齐</a:t>
            </a:r>
            <a:endParaRPr lang="en-US" sz="1060" dirty="0"/>
          </a:p>
        </p:txBody>
      </p:sp>
      <p:sp>
        <p:nvSpPr>
          <p:cNvPr id="17" name="Shape 14"/>
          <p:cNvSpPr/>
          <p:nvPr/>
        </p:nvSpPr>
        <p:spPr>
          <a:xfrm>
            <a:off x="4983480" y="3127248"/>
            <a:ext cx="274320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48072" y="329184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灌浆｜保绿性、抗病、穗部发育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8046720" y="3127248"/>
            <a:ext cx="274320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11312" y="329184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成熟｜抗倒、倒折、穗腐、脱水</a:t>
            </a: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4983480" y="4087368"/>
            <a:ext cx="274320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48072" y="425196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收获｜实收产量、含水率、机收表现</a:t>
            </a:r>
            <a:endParaRPr lang="en-US" sz="1060" dirty="0"/>
          </a:p>
        </p:txBody>
      </p:sp>
      <p:sp>
        <p:nvSpPr>
          <p:cNvPr id="23" name="Shape 20"/>
          <p:cNvSpPr/>
          <p:nvPr/>
        </p:nvSpPr>
        <p:spPr>
          <a:xfrm>
            <a:off x="4983480" y="5074920"/>
            <a:ext cx="5806440" cy="566928"/>
          </a:xfrm>
          <a:prstGeom prst="roundRect">
            <a:avLst>
              <a:gd name="adj" fmla="val 16129"/>
            </a:avLst>
          </a:prstGeom>
          <a:solidFill>
            <a:srgbClr val="FFF4D7"/>
          </a:solidFill>
          <a:ln w="12700">
            <a:solidFill>
              <a:srgbClr val="FFF4D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30368" y="5303520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采集结果先进入后台审核，再选择是否对外展示和生成营销素材。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4A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营销素材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八、营销发布中心：把阶段表现变成可转发素材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3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重点品种数字示范展示及营销管理平台  |  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965960" y="1911096"/>
            <a:ext cx="521208" cy="0"/>
          </a:xfrm>
          <a:prstGeom prst="line">
            <a:avLst/>
          </a:prstGeom>
          <a:noFill/>
          <a:ln w="17780">
            <a:solidFill>
              <a:srgbClr val="E4A11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749040" y="1911096"/>
            <a:ext cx="521208" cy="0"/>
          </a:xfrm>
          <a:prstGeom prst="line">
            <a:avLst/>
          </a:prstGeom>
          <a:noFill/>
          <a:ln w="17780">
            <a:solidFill>
              <a:srgbClr val="E4A11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31520" y="1600200"/>
            <a:ext cx="1234440" cy="621792"/>
          </a:xfrm>
          <a:prstGeom prst="roundRect">
            <a:avLst>
              <a:gd name="adj" fmla="val 14706"/>
            </a:avLst>
          </a:prstGeom>
          <a:solidFill>
            <a:srgbClr val="EAF2E6"/>
          </a:solidFill>
          <a:ln w="12700">
            <a:solidFill>
              <a:srgbClr val="C8D9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773936"/>
            <a:ext cx="1088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示范表现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审核发布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14600" y="1600200"/>
            <a:ext cx="1234440" cy="621792"/>
          </a:xfrm>
          <a:prstGeom prst="roundRect">
            <a:avLst>
              <a:gd name="adj" fmla="val 14706"/>
            </a:avLst>
          </a:prstGeom>
          <a:solidFill>
            <a:srgbClr val="FFF4D7"/>
          </a:solidFill>
          <a:ln w="12700">
            <a:solidFill>
              <a:srgbClr val="C8D9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1773936"/>
            <a:ext cx="1088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素材模板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自动套用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0" y="1600200"/>
            <a:ext cx="1234440" cy="621792"/>
          </a:xfrm>
          <a:prstGeom prst="roundRect">
            <a:avLst>
              <a:gd name="adj" fmla="val 14706"/>
            </a:avLst>
          </a:prstGeom>
          <a:solidFill>
            <a:srgbClr val="EAF2E6"/>
          </a:solidFill>
          <a:ln w="12700">
            <a:solidFill>
              <a:srgbClr val="C8D9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0832" y="1773936"/>
            <a:ext cx="1088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一键下载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复制转发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27432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系统生成的素材类型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04672" y="3246120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FFF4D7"/>
          </a:solidFill>
          <a:ln w="12700">
            <a:solidFill>
              <a:srgbClr val="FFF4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333298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朋友圈海报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44952" y="3246120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EAF2E6"/>
          </a:solidFill>
          <a:ln w="12700">
            <a:solidFill>
              <a:srgbClr val="EAF2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18104" y="333298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6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微信群文案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4672" y="3721608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FFF4D7"/>
          </a:solidFill>
          <a:ln w="12700">
            <a:solidFill>
              <a:srgbClr val="FFF4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3808476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视频号文案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044952" y="3721608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EAF2E6"/>
          </a:solidFill>
          <a:ln w="12700">
            <a:solidFill>
              <a:srgbClr val="EAF2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18104" y="3808476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6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抖音文案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04672" y="4197096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FFF4D7"/>
          </a:solidFill>
          <a:ln w="12700">
            <a:solidFill>
              <a:srgbClr val="FFF4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7824" y="4283964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短视频脚本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044952" y="4197096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EAF2E6"/>
          </a:solidFill>
          <a:ln w="12700">
            <a:solidFill>
              <a:srgbClr val="EAF2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18104" y="4283964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6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短视频封面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04672" y="4672584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FFF4D7"/>
          </a:solidFill>
          <a:ln w="12700">
            <a:solidFill>
              <a:srgbClr val="FFF4D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" y="4759452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示范点二维码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044952" y="4672584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EAF2E6"/>
          </a:solidFill>
          <a:ln w="12700">
            <a:solidFill>
              <a:srgbClr val="EAF2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18104" y="4759452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6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经销商专属海报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04672" y="5148072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FFF4D7"/>
          </a:solidFill>
          <a:ln w="12700">
            <a:solidFill>
              <a:srgbClr val="FFF4D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" y="5234940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看田邀请海报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044952" y="5148072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EAF2E6"/>
          </a:solidFill>
          <a:ln w="12700">
            <a:solidFill>
              <a:srgbClr val="EAF2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18104" y="5234940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6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本周重点推荐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452360" y="1051560"/>
            <a:ext cx="3474720" cy="5029200"/>
          </a:xfrm>
          <a:prstGeom prst="roundRect">
            <a:avLst>
              <a:gd name="adj" fmla="val 3421"/>
            </a:avLst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pic>
        <p:nvPicPr>
          <p:cNvPr id="36" name="Image 0" descr="/mnt/data/corn_phone.jpg"/>
          <p:cNvPicPr>
            <a:picLocks noChangeAspect="1"/>
          </p:cNvPicPr>
          <p:nvPr/>
        </p:nvPicPr>
        <p:blipFill>
          <a:blip r:embed="rId3"/>
          <a:srcRect l="2188" r="2188"/>
          <a:stretch/>
        </p:blipFill>
        <p:spPr>
          <a:xfrm>
            <a:off x="7635240" y="1234440"/>
            <a:ext cx="3108960" cy="182880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7818120" y="3401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棒中棒889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7818120" y="3794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2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河南新乡示范点 · 成熟期表现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7818120" y="4160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4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站秆好｜穗部整齐｜脱水较快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8641080" y="4617720"/>
            <a:ext cx="10972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641080" y="50749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二维码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909560" y="580644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扫码查看完整表现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4A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渠道发布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九、多渠道传播：微信、抖音、线下二维码联动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3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重点品种数字示范展示及营销管理平台  | 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664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🟢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08760" y="17190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微信传播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233172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F6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朋友圈、微信群、视频号、公众号文章、二维码传播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1097280" y="3063240"/>
            <a:ext cx="2651760" cy="0"/>
          </a:xfrm>
          <a:prstGeom prst="line">
            <a:avLst/>
          </a:prstGeom>
          <a:noFill/>
          <a:ln w="12700">
            <a:solidFill>
              <a:srgbClr val="E4A1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310128"/>
            <a:ext cx="2697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先由平台生成素材，销售/经销商人工发布；后续优化分享卡片和小程序。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4572000" y="1417320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664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🎬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57800" y="17190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抖音传播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46320" y="233172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F6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短视频、直播、企业号主页、后续小程序挂载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4846320" y="3063240"/>
            <a:ext cx="2651760" cy="0"/>
          </a:xfrm>
          <a:prstGeom prst="line">
            <a:avLst/>
          </a:prstGeom>
          <a:noFill/>
          <a:ln w="12700">
            <a:solidFill>
              <a:srgbClr val="E4A1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310128"/>
            <a:ext cx="2697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先生成标题、话题、脚本、封面；成熟后接入抖音小程序和挂载能力。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8321040" y="1417320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22208" y="1664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📍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006840" y="17190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线下传播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595360" y="233172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F6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示范牌二维码、宣传单、观摩会、经销商门店物料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8595360" y="3063240"/>
            <a:ext cx="2651760" cy="0"/>
          </a:xfrm>
          <a:prstGeom prst="line">
            <a:avLst/>
          </a:prstGeom>
          <a:noFill/>
          <a:ln w="12700">
            <a:solidFill>
              <a:srgbClr val="E4A11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0" y="3310128"/>
            <a:ext cx="2697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线下用户扫码进入品种或示范点页面，提交咨询、看田、试验点申请。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1005840" y="589788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发布策略：当前阶段优先“素材生成 + 人工发布 + 数据回流”，避免平台规则限制；后续再逐步接入微信/抖音生态能力。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4A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线索闭环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十、客户线索管理：让反馈不再散落在个人微信里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3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重点品种数字示范展示及营销管理平台  |  11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22960" y="1143000"/>
            <a:ext cx="3794760" cy="4800600"/>
          </a:xfrm>
          <a:prstGeom prst="roundRect">
            <a:avLst>
              <a:gd name="adj" fmla="val 3133"/>
            </a:avLst>
          </a:prstGeom>
          <a:solidFill>
            <a:srgbClr val="F5F7F2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44475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 / 申请示范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43000" y="1965960"/>
            <a:ext cx="31546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1872" y="2075688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3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143000" y="2487168"/>
            <a:ext cx="31546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1872" y="2596896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3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电话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43000" y="3008376"/>
            <a:ext cx="31546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1872" y="3118104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3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所在区域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143000" y="3529584"/>
            <a:ext cx="31546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1872" y="3639312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3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身份类型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143000" y="4050792"/>
            <a:ext cx="31546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4160520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3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感兴趣事项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143000" y="4572000"/>
            <a:ext cx="31546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61872" y="4681728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3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143000" y="5349240"/>
            <a:ext cx="3154680" cy="384048"/>
          </a:xfrm>
          <a:prstGeom prst="roundRect">
            <a:avLst>
              <a:gd name="adj" fmla="val 19048"/>
            </a:avLst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5477256"/>
            <a:ext cx="3154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提交信息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49240" y="123444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后台沉淀的关键字段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394960" y="1938528"/>
            <a:ext cx="73152" cy="73152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41264" y="187452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客户身份：经销商 / 农户 / 种植大户 / 合作社</a:t>
            </a:r>
            <a:endParaRPr lang="en-US" sz="1240" dirty="0"/>
          </a:p>
        </p:txBody>
      </p:sp>
      <p:sp>
        <p:nvSpPr>
          <p:cNvPr id="25" name="Shape 23"/>
          <p:cNvSpPr/>
          <p:nvPr/>
        </p:nvSpPr>
        <p:spPr>
          <a:xfrm>
            <a:off x="5394960" y="2459736"/>
            <a:ext cx="73152" cy="73152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41264" y="239572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兴趣事项：咨询、看田、申请示范、经销合作</a:t>
            </a:r>
            <a:endParaRPr lang="en-US" sz="1240" dirty="0"/>
          </a:p>
        </p:txBody>
      </p:sp>
      <p:sp>
        <p:nvSpPr>
          <p:cNvPr id="27" name="Shape 25"/>
          <p:cNvSpPr/>
          <p:nvPr/>
        </p:nvSpPr>
        <p:spPr>
          <a:xfrm>
            <a:off x="5394960" y="2980944"/>
            <a:ext cx="73152" cy="73152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41264" y="291693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来源渠道：微信、抖音、二维码、销售/经销商转发</a:t>
            </a:r>
            <a:endParaRPr lang="en-US" sz="1240" dirty="0"/>
          </a:p>
        </p:txBody>
      </p:sp>
      <p:sp>
        <p:nvSpPr>
          <p:cNvPr id="29" name="Shape 27"/>
          <p:cNvSpPr/>
          <p:nvPr/>
        </p:nvSpPr>
        <p:spPr>
          <a:xfrm>
            <a:off x="5394960" y="3502152"/>
            <a:ext cx="73152" cy="73152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41264" y="343814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关联对象：品种、示范点、阶段表现、推广人员</a:t>
            </a:r>
            <a:endParaRPr lang="en-US" sz="1240" dirty="0"/>
          </a:p>
        </p:txBody>
      </p:sp>
      <p:sp>
        <p:nvSpPr>
          <p:cNvPr id="31" name="Shape 29"/>
          <p:cNvSpPr/>
          <p:nvPr/>
        </p:nvSpPr>
        <p:spPr>
          <a:xfrm>
            <a:off x="5394960" y="4023360"/>
            <a:ext cx="73152" cy="73152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41264" y="395935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跟进状态：未联系、已联系、已看田、已转化</a:t>
            </a:r>
            <a:endParaRPr lang="en-US" sz="1240" dirty="0"/>
          </a:p>
        </p:txBody>
      </p:sp>
      <p:sp>
        <p:nvSpPr>
          <p:cNvPr id="33" name="Shape 31"/>
          <p:cNvSpPr/>
          <p:nvPr/>
        </p:nvSpPr>
        <p:spPr>
          <a:xfrm>
            <a:off x="5349240" y="4919472"/>
            <a:ext cx="5577840" cy="685800"/>
          </a:xfrm>
          <a:prstGeom prst="roundRect">
            <a:avLst>
              <a:gd name="adj" fmla="val 13333"/>
            </a:avLst>
          </a:prstGeom>
          <a:solidFill>
            <a:srgbClr val="EAF2E6"/>
          </a:solidFill>
          <a:ln w="12700">
            <a:solidFill>
              <a:srgbClr val="EAF2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50992" y="5184648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6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线索进入系统后，可按区域分配给销售或经销商，形成后续跟进与效果复盘。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4A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十一、项目优势：从宣传网站到数字化推广工具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3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重点品种数字示范展示及营销管理平台  |  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68680" y="12801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6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184708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田间过程记录，而非只展示宣传语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2514600"/>
            <a:ext cx="2971800" cy="0"/>
          </a:xfrm>
          <a:prstGeom prst="line">
            <a:avLst/>
          </a:prstGeom>
          <a:noFill/>
          <a:ln w="12700">
            <a:solidFill>
              <a:srgbClr val="DDE7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2801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4A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省力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0" y="184708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自动生成海报、文案、脚本，减少重复工作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0" y="2514600"/>
            <a:ext cx="2971800" cy="0"/>
          </a:xfrm>
          <a:prstGeom prst="line">
            <a:avLst/>
          </a:prstGeom>
          <a:noFill/>
          <a:ln w="12700">
            <a:solidFill>
              <a:srgbClr val="DDE7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12801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6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75320" y="184708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经销商拿到专属素材和二维码，参与推广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75320" y="2514600"/>
            <a:ext cx="2971800" cy="0"/>
          </a:xfrm>
          <a:prstGeom prst="line">
            <a:avLst/>
          </a:prstGeom>
          <a:noFill/>
          <a:ln w="12700">
            <a:solidFill>
              <a:srgbClr val="DDE7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2004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4A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68680" y="376732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咨询、申请示范、预约看田进入后台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8680" y="4434840"/>
            <a:ext cx="2971800" cy="0"/>
          </a:xfrm>
          <a:prstGeom prst="line">
            <a:avLst/>
          </a:prstGeom>
          <a:noFill/>
          <a:ln w="12700">
            <a:solidFill>
              <a:srgbClr val="DDE7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2004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6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可分析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572000" y="376732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统计示范点、区域、渠道、人员的推广效果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0" y="4434840"/>
            <a:ext cx="2971800" cy="0"/>
          </a:xfrm>
          <a:prstGeom prst="line">
            <a:avLst/>
          </a:prstGeom>
          <a:noFill/>
          <a:ln w="12700">
            <a:solidFill>
              <a:srgbClr val="DDE7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32004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4A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275320" y="376732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适合棒中棒889等单一重点品种深度推广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75320" y="4434840"/>
            <a:ext cx="2971800" cy="0"/>
          </a:xfrm>
          <a:prstGeom prst="line">
            <a:avLst/>
          </a:prstGeom>
          <a:noFill/>
          <a:ln w="12700">
            <a:solidFill>
              <a:srgbClr val="DDE7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" y="5623560"/>
            <a:ext cx="9966960" cy="548640"/>
          </a:xfrm>
          <a:prstGeom prst="roundRect">
            <a:avLst>
              <a:gd name="adj" fmla="val 16667"/>
            </a:avLst>
          </a:prstGeom>
          <a:solidFill>
            <a:srgbClr val="16301F"/>
          </a:solidFill>
          <a:ln w="12700">
            <a:solidFill>
              <a:srgbClr val="1630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25880" y="5833872"/>
            <a:ext cx="9509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核心改变：把“人工介绍、零散照片、个人传播”升级为“真实数据 + 移动展示 + 一键营销 + 线索回流”。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4A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问题与边界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十二、当前存在问题：平台能支撑，但运营仍要配套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3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重点品种数字示范展示及营销管理平台  |  13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22960" y="1234440"/>
            <a:ext cx="10469880" cy="658368"/>
          </a:xfrm>
          <a:prstGeom prst="roundRect">
            <a:avLst>
              <a:gd name="adj" fmla="val 11111"/>
            </a:avLst>
          </a:prstGeom>
          <a:solidFill>
            <a:srgbClr val="EAF2E6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14173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A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83080" y="1371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内容质量依赖采集人员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4572000" y="1380744"/>
            <a:ext cx="6355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照片质量、视频角度、描述准确性仍需标准和培训保障。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2148840"/>
            <a:ext cx="10469880" cy="658368"/>
          </a:xfrm>
          <a:prstGeom prst="roundRect">
            <a:avLst>
              <a:gd name="adj" fmla="val 11111"/>
            </a:avLst>
          </a:prstGeom>
          <a:solidFill>
            <a:srgbClr val="F5F7F2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23317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A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83080" y="22860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微信/抖音自动发布受限制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4572000" y="2295144"/>
            <a:ext cx="6355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外链跳转、表单留资、小程序挂载需遵守平台审核规则。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063240"/>
            <a:ext cx="10469880" cy="658368"/>
          </a:xfrm>
          <a:prstGeom prst="roundRect">
            <a:avLst>
              <a:gd name="adj" fmla="val 11111"/>
            </a:avLst>
          </a:prstGeom>
          <a:solidFill>
            <a:srgbClr val="EAF2E6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32461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A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83080" y="3200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线索转化依赖销售管理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4572000" y="3209544"/>
            <a:ext cx="6355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平台能收集线索，但转化取决于及时联系与跟进记录。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3977640"/>
            <a:ext cx="10469880" cy="658368"/>
          </a:xfrm>
          <a:prstGeom prst="roundRect">
            <a:avLst>
              <a:gd name="adj" fmla="val 11111"/>
            </a:avLst>
          </a:prstGeom>
          <a:solidFill>
            <a:srgbClr val="F5F7F2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0704" y="4160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A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83080" y="4114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数据分析需要长期积累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4572000" y="4123944"/>
            <a:ext cx="6355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访问量、咨询量、渠道效果需持续使用后才有判断价值。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" y="4892040"/>
            <a:ext cx="10469880" cy="658368"/>
          </a:xfrm>
          <a:prstGeom prst="roundRect">
            <a:avLst>
              <a:gd name="adj" fmla="val 11111"/>
            </a:avLst>
          </a:prstGeom>
          <a:solidFill>
            <a:srgbClr val="EAF2E6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" y="50749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A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83080" y="5029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多区域多品种扩展需规划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4572000" y="5038344"/>
            <a:ext cx="6355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当前偏单一重点品种，后续扩展需增强权限与内容结构。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4A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迭代规划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十三、后续完善方向：从工具到持续运营能力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3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重点品种数字示范展示及营销管理平台  |  14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325880" y="1417320"/>
            <a:ext cx="658368" cy="658368"/>
          </a:xfrm>
          <a:prstGeom prst="ellipse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627632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11680" y="1746504"/>
            <a:ext cx="1051560" cy="0"/>
          </a:xfrm>
          <a:prstGeom prst="line">
            <a:avLst/>
          </a:prstGeom>
          <a:noFill/>
          <a:ln w="17780">
            <a:solidFill>
              <a:srgbClr val="E4A11B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77240" y="24231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完善采集标准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3017520"/>
            <a:ext cx="1965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固定阶段模板、标准拍摄角度、异常天气记录、关键指标和阶段总结。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66160" y="1417320"/>
            <a:ext cx="658368" cy="658368"/>
          </a:xfrm>
          <a:prstGeom prst="ellipse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627632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51960" y="1746504"/>
            <a:ext cx="1051560" cy="0"/>
          </a:xfrm>
          <a:prstGeom prst="line">
            <a:avLst/>
          </a:prstGeom>
          <a:noFill/>
          <a:ln w="17780">
            <a:solidFill>
              <a:srgbClr val="E4A11B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017520" y="24231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强化营销素材能力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926080" y="3017520"/>
            <a:ext cx="1965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更多海报模板、区域版本、经销商专属、观摩会二维码、短视频分镜。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06440" y="1417320"/>
            <a:ext cx="658368" cy="658368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1627632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92240" y="1746504"/>
            <a:ext cx="1051560" cy="0"/>
          </a:xfrm>
          <a:prstGeom prst="line">
            <a:avLst/>
          </a:prstGeom>
          <a:noFill/>
          <a:ln w="17780">
            <a:solidFill>
              <a:srgbClr val="E4A11B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257800" y="24231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建立推广效果看板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166360" y="3017520"/>
            <a:ext cx="1965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渠道访问、咨询转化、示范点热度、区域线索、经销商效果排行。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46720" y="1417320"/>
            <a:ext cx="658368" cy="658368"/>
          </a:xfrm>
          <a:prstGeom prst="ellipse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0" y="1627632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732520" y="1746504"/>
            <a:ext cx="1051560" cy="0"/>
          </a:xfrm>
          <a:prstGeom prst="line">
            <a:avLst/>
          </a:prstGeom>
          <a:noFill/>
          <a:ln w="17780">
            <a:solidFill>
              <a:srgbClr val="E4A11B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498080" y="24231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接入微信生态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406640" y="3017520"/>
            <a:ext cx="1965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公众号菜单、分享卡片、小程序、视频号承接、扫码来源统计。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287000" y="1417320"/>
            <a:ext cx="658368" cy="658368"/>
          </a:xfrm>
          <a:prstGeom prst="ellipse">
            <a:avLst/>
          </a:prstGeom>
          <a:solidFill>
            <a:srgbClr val="2F6F8F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87000" y="1627632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38360" y="24231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接入抖音生态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646920" y="3017520"/>
            <a:ext cx="1965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抖音小程序、短视频挂载、直播挂载、来源统计和内容合规优化。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280160" y="5257800"/>
            <a:ext cx="9601200" cy="658368"/>
          </a:xfrm>
          <a:prstGeom prst="roundRect">
            <a:avLst>
              <a:gd name="adj" fmla="val 13889"/>
            </a:avLst>
          </a:prstGeom>
          <a:solidFill>
            <a:srgbClr val="EAF2E6"/>
          </a:solidFill>
          <a:ln w="12700">
            <a:solidFill>
              <a:srgbClr val="EAF2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00200" y="5504688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6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推进原则：先跑通单品种闭环，再扩展多品种、多区域、多生态平台能力。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4A1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部署使用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十四、部署与使用模式：开发测试与正式运营分离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3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重点品种数字示范展示及营销管理平台  |  15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5074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88720"/>
            <a:ext cx="73152" cy="1005840"/>
          </a:xfrm>
          <a:prstGeom prst="rect">
            <a:avLst/>
          </a:prstGeom>
          <a:solidFill>
            <a:srgbClr val="2F6F8F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3533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开发测试模式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932688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继续使用 Windows 环境，适合功能开发、页面调整、数据测试、手机局域网预览和后台配置验证。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6309360" y="1188720"/>
            <a:ext cx="5074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188720"/>
            <a:ext cx="73152" cy="1005840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13533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公网正式运行模式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510528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正式环境部署在公网服务器，通过 https://bzb889.originseed.com.cn/ 访问，用于客户、销售、经销商和示范负责人。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731520" y="2788920"/>
            <a:ext cx="5074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788920"/>
            <a:ext cx="73152" cy="1005840"/>
          </a:xfrm>
          <a:prstGeom prst="rect">
            <a:avLst/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29535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数据使用模式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932688" y="3291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区分开发测试数据与正式运营数据；部署代码时尽量只更新程序功能，不随意覆盖服务器正式数据。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6309360" y="2788920"/>
            <a:ext cx="5074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2788920"/>
            <a:ext cx="73152" cy="1005840"/>
          </a:xfrm>
          <a:prstGeom prst="rect">
            <a:avLst/>
          </a:prstGeom>
          <a:solidFill>
            <a:srgbClr val="1F6B3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29535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用户角色体系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6510528" y="3291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管理员、区域管理员、示范负责人、销售人员、经销商、客户/农户各自使用不同功能入口。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914400" y="4892040"/>
            <a:ext cx="1417320" cy="530352"/>
          </a:xfrm>
          <a:prstGeom prst="roundRect">
            <a:avLst>
              <a:gd name="adj" fmla="val 13793"/>
            </a:avLst>
          </a:prstGeom>
          <a:solidFill>
            <a:srgbClr val="EAF2E6"/>
          </a:solidFill>
          <a:ln w="12700">
            <a:solidFill>
              <a:srgbClr val="EAF2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047488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960120" y="553212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配置与审核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88920" y="4892040"/>
            <a:ext cx="1417320" cy="530352"/>
          </a:xfrm>
          <a:prstGeom prst="roundRect">
            <a:avLst>
              <a:gd name="adj" fmla="val 13793"/>
            </a:avLst>
          </a:prstGeom>
          <a:solidFill>
            <a:srgbClr val="FFF4D7"/>
          </a:solidFill>
          <a:ln w="12700">
            <a:solidFill>
              <a:srgbClr val="FFF4D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5047488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区域管理员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2834640" y="553212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区域示范与线索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63440" y="4892040"/>
            <a:ext cx="1417320" cy="530352"/>
          </a:xfrm>
          <a:prstGeom prst="roundRect">
            <a:avLst>
              <a:gd name="adj" fmla="val 13793"/>
            </a:avLst>
          </a:prstGeom>
          <a:solidFill>
            <a:srgbClr val="EAF2E6"/>
          </a:solidFill>
          <a:ln w="12700">
            <a:solidFill>
              <a:srgbClr val="EAF2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5047488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示范负责人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4709160" y="553212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手机采集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537960" y="4892040"/>
            <a:ext cx="1417320" cy="530352"/>
          </a:xfrm>
          <a:prstGeom prst="roundRect">
            <a:avLst>
              <a:gd name="adj" fmla="val 13793"/>
            </a:avLst>
          </a:prstGeom>
          <a:solidFill>
            <a:srgbClr val="FFF4D7"/>
          </a:solidFill>
          <a:ln w="12700">
            <a:solidFill>
              <a:srgbClr val="FFF4D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5047488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销售人员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6583680" y="553212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转发与跟进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412480" y="4892040"/>
            <a:ext cx="1417320" cy="530352"/>
          </a:xfrm>
          <a:prstGeom prst="roundRect">
            <a:avLst>
              <a:gd name="adj" fmla="val 13793"/>
            </a:avLst>
          </a:prstGeom>
          <a:solidFill>
            <a:srgbClr val="EAF2E6"/>
          </a:solidFill>
          <a:ln w="12700">
            <a:solidFill>
              <a:srgbClr val="EAF2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58200" y="5047488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经销商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8458200" y="553212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专属素材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0287000" y="4892040"/>
            <a:ext cx="1417320" cy="530352"/>
          </a:xfrm>
          <a:prstGeom prst="roundRect">
            <a:avLst>
              <a:gd name="adj" fmla="val 13793"/>
            </a:avLst>
          </a:prstGeom>
          <a:solidFill>
            <a:srgbClr val="FFF4D7"/>
          </a:solidFill>
          <a:ln w="12700">
            <a:solidFill>
              <a:srgbClr val="FFF4D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332720" y="5047488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客户/农户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10332720" y="553212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查看与咨询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D900702-49A7-F16E-0202-98A8337B28D8}"/>
              </a:ext>
            </a:extLst>
          </p:cNvPr>
          <p:cNvSpPr/>
          <p:nvPr/>
        </p:nvSpPr>
        <p:spPr>
          <a:xfrm>
            <a:off x="502920" y="25603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F2A2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十</a:t>
            </a:r>
            <a:r>
              <a:rPr lang="zh-CN" altLang="en-US" sz="2500" b="1" dirty="0">
                <a:solidFill>
                  <a:srgbClr val="1F2A2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五</a:t>
            </a:r>
            <a:r>
              <a:rPr lang="en-US" sz="2500" b="1" dirty="0">
                <a:solidFill>
                  <a:srgbClr val="1F2A2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、</a:t>
            </a:r>
            <a:r>
              <a:rPr lang="en-US" sz="2500" b="1" dirty="0" err="1">
                <a:solidFill>
                  <a:srgbClr val="1F2A2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近期应用场景</a:t>
            </a:r>
            <a:r>
              <a:rPr lang="en-US" sz="2500" b="1" dirty="0">
                <a:solidFill>
                  <a:srgbClr val="1F2A2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：</a:t>
            </a:r>
            <a:r>
              <a:rPr lang="zh-CN" altLang="en-US" sz="2500" b="1" dirty="0">
                <a:solidFill>
                  <a:srgbClr val="1F2A2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棒中棒</a:t>
            </a:r>
            <a:r>
              <a:rPr lang="en-US" altLang="zh-CN" sz="2500" b="1" dirty="0">
                <a:solidFill>
                  <a:srgbClr val="1F2A2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889 </a:t>
            </a:r>
            <a:r>
              <a:rPr lang="en-US" sz="2500" b="1" dirty="0">
                <a:solidFill>
                  <a:srgbClr val="1F2A2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7月底经销商确权大会</a:t>
            </a:r>
            <a:endParaRPr lang="en-US" sz="25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3923A3A-0E1F-F827-5422-ACBFBB76ACA0}"/>
              </a:ext>
            </a:extLst>
          </p:cNvPr>
          <p:cNvSpPr/>
          <p:nvPr/>
        </p:nvSpPr>
        <p:spPr>
          <a:xfrm>
            <a:off x="530352" y="80467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967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以单一重点品种为核心，将会议从“招商确权”升级为“大品种发布 + 数字化共建”。</a:t>
            </a:r>
            <a:endParaRPr lang="en-US" sz="12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AF083E6-B540-28D8-227D-409762229D05}"/>
              </a:ext>
            </a:extLst>
          </p:cNvPr>
          <p:cNvSpPr/>
          <p:nvPr/>
        </p:nvSpPr>
        <p:spPr>
          <a:xfrm>
            <a:off x="530352" y="1170432"/>
            <a:ext cx="1920240" cy="0"/>
          </a:xfrm>
          <a:prstGeom prst="line">
            <a:avLst/>
          </a:prstGeom>
          <a:noFill/>
          <a:ln w="38100">
            <a:solidFill>
              <a:srgbClr val="F2B84B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11A955F-7201-C932-0CDF-77AFDDF852FD}"/>
              </a:ext>
            </a:extLst>
          </p:cNvPr>
          <p:cNvSpPr/>
          <p:nvPr/>
        </p:nvSpPr>
        <p:spPr>
          <a:xfrm>
            <a:off x="960120" y="1828800"/>
            <a:ext cx="2971800" cy="502920"/>
          </a:xfrm>
          <a:prstGeom prst="rect">
            <a:avLst/>
          </a:prstGeom>
          <a:solidFill>
            <a:srgbClr val="276749"/>
          </a:solidFill>
          <a:ln/>
          <a:effectLst>
            <a:outerShdw algn="bl" rotWithShape="0">
              <a:srgbClr val="6B765E">
                <a:alpha val="0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会前预热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579DDB6-D59F-D25F-E99A-492531215EE0}"/>
              </a:ext>
            </a:extLst>
          </p:cNvPr>
          <p:cNvSpPr/>
          <p:nvPr/>
        </p:nvSpPr>
        <p:spPr>
          <a:xfrm>
            <a:off x="960120" y="2560320"/>
            <a:ext cx="2971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D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1F2A2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朋友圈/视频号/抖音发布预热视频，推送品种主页面和报名入口</a:t>
            </a:r>
            <a:endParaRPr lang="en-US" sz="14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BCF40C7-CD63-21BB-C85A-7B585EDA0361}"/>
              </a:ext>
            </a:extLst>
          </p:cNvPr>
          <p:cNvSpPr/>
          <p:nvPr/>
        </p:nvSpPr>
        <p:spPr>
          <a:xfrm>
            <a:off x="4663440" y="1828800"/>
            <a:ext cx="2971800" cy="502920"/>
          </a:xfrm>
          <a:prstGeom prst="rect">
            <a:avLst/>
          </a:prstGeom>
          <a:solidFill>
            <a:srgbClr val="F2B84B"/>
          </a:solidFill>
          <a:ln/>
          <a:effectLst>
            <a:outerShdw algn="bl" rotWithShape="0">
              <a:srgbClr val="6B765E">
                <a:alpha val="0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2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会中互动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8C256A0-023E-C837-32ED-69B40D5CDD41}"/>
              </a:ext>
            </a:extLst>
          </p:cNvPr>
          <p:cNvSpPr/>
          <p:nvPr/>
        </p:nvSpPr>
        <p:spPr>
          <a:xfrm>
            <a:off x="4663440" y="2560320"/>
            <a:ext cx="2971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D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1F2A2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扫码签到、扫码看示范点、现场区域认领、经销商提交确权意向</a:t>
            </a:r>
            <a:endParaRPr lang="en-US" sz="14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B50DD5C-23BE-FE36-B33C-6BD1312529CB}"/>
              </a:ext>
            </a:extLst>
          </p:cNvPr>
          <p:cNvSpPr/>
          <p:nvPr/>
        </p:nvSpPr>
        <p:spPr>
          <a:xfrm>
            <a:off x="8366760" y="1828800"/>
            <a:ext cx="2971800" cy="502920"/>
          </a:xfrm>
          <a:prstGeom prst="rect">
            <a:avLst/>
          </a:prstGeom>
          <a:solidFill>
            <a:srgbClr val="B44B3E"/>
          </a:solidFill>
          <a:ln/>
          <a:effectLst>
            <a:outerShdw algn="bl" rotWithShape="0">
              <a:srgbClr val="6B765E">
                <a:alpha val="0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会后转化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B1AEEB0-03C8-6AED-F50E-E7CEE1A651DC}"/>
              </a:ext>
            </a:extLst>
          </p:cNvPr>
          <p:cNvSpPr/>
          <p:nvPr/>
        </p:nvSpPr>
        <p:spPr>
          <a:xfrm>
            <a:off x="8366760" y="2560320"/>
            <a:ext cx="2971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D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 err="1">
                <a:solidFill>
                  <a:srgbClr val="1F2A2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发布会议回顾与示范表现，跟进订货看田预约和经销合作</a:t>
            </a:r>
            <a:endParaRPr lang="en-US" sz="14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37C0955-C455-9D94-B447-73101FA7F352}"/>
              </a:ext>
            </a:extLst>
          </p:cNvPr>
          <p:cNvSpPr/>
          <p:nvPr/>
        </p:nvSpPr>
        <p:spPr>
          <a:xfrm>
            <a:off x="739471" y="4876138"/>
            <a:ext cx="10909189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DD"/>
            </a:solidFill>
          </a:ln>
          <a:effectLst>
            <a:outerShdw algn="bl" rotWithShape="0">
              <a:srgbClr val="6B765E">
                <a:alpha val="0"/>
              </a:srgbClr>
            </a:outerShdw>
          </a:effectLst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674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会议目标：经销商不仅获得区域权利，更获得持续传播素材、客户反馈入口和大品种共建工具。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70613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3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orn_phone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01F">
              <a:alpha val="82000"/>
            </a:srgbClr>
          </a:solidFill>
          <a:ln w="12700">
            <a:solidFill>
              <a:srgbClr val="16301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8229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总结：打造重点品种推广的数字化闭环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68680" y="16002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4D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真实示范数据沉淀 + 手机端可视化展示 + 一键营销素材生成 + 微信/抖音/二维码传播 + 客户线索回流管理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914400" y="2788920"/>
            <a:ext cx="2971800" cy="1481328"/>
          </a:xfrm>
          <a:prstGeom prst="roundRect">
            <a:avLst>
              <a:gd name="adj" fmla="val 7407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15568" y="3017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当前重点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15568" y="3474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围绕棒中棒889打磨单品种闭环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17720" y="2788920"/>
            <a:ext cx="2971800" cy="1481328"/>
          </a:xfrm>
          <a:prstGeom prst="roundRect">
            <a:avLst>
              <a:gd name="adj" fmla="val 7407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18888" y="3017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818888" y="3474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让示范表现成为可传播、可转化的市场证据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321040" y="2788920"/>
            <a:ext cx="2971800" cy="1481328"/>
          </a:xfrm>
          <a:prstGeom prst="roundRect">
            <a:avLst>
              <a:gd name="adj" fmla="val 7407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22208" y="3017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后续方向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522208" y="3474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B63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从单品种扩展到多区域、多品种、多渠道运营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566160" y="5257800"/>
            <a:ext cx="5120640" cy="621792"/>
          </a:xfrm>
          <a:prstGeom prst="roundRect">
            <a:avLst>
              <a:gd name="adj" fmla="val 17647"/>
            </a:avLst>
          </a:prstGeom>
          <a:solidFill>
            <a:srgbClr val="E4A11B"/>
          </a:solidFill>
          <a:ln w="12700">
            <a:solidFill>
              <a:srgbClr val="E4A11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49040" y="549554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以一个品种跑通模式，以平台能力放大推广效率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</TotalTime>
  <Words>1189</Words>
  <Application>Microsoft Office PowerPoint</Application>
  <PresentationFormat>宽屏</PresentationFormat>
  <Paragraphs>298</Paragraphs>
  <Slides>17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Noto Sans CJK SC</vt:lpstr>
      <vt:lpstr>Microsoft YaHei</vt:lpstr>
      <vt:lpstr>Arial</vt:lpstr>
      <vt:lpstr>Segoe UI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玉米重点品种数字示范展示及营销管理平台</dc:title>
  <dc:subject>玉米重点品种数字示范展示及营销管理平台</dc:subject>
  <dc:creator>OpenAI</dc:creator>
  <cp:lastModifiedBy>kang deng</cp:lastModifiedBy>
  <cp:revision>10</cp:revision>
  <dcterms:created xsi:type="dcterms:W3CDTF">2026-07-09T09:29:58Z</dcterms:created>
  <dcterms:modified xsi:type="dcterms:W3CDTF">2026-07-10T00:36:13Z</dcterms:modified>
</cp:coreProperties>
</file>